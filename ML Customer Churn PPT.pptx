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57483718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3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This presentation outlines a CRM-based approach to customer churn prediction using machine learning, structured as an MBA final project.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Subscription businesses rely on retention. Acquisition is costly (5-7x). Churn hurts revenue and LTV. Current CRM usage is often reactive.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core problem is predicting churn proactively and integrating it into CRM. Challenges include fragmented data and the need for interpretability.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Our goals are to create CRM entities, build a Customer 360 view, develop a prediction model, identify churn drivers, and formulate strategies.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 use the Telco Churn dataset, covering tenure, billing, and services. Visuals show categorical and numeric feature distributions.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Traditional modeling uses flat datasets. Our CRM-based approach separates operational and analytics layers, mimicking enterprise architectures for better interpretability.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 decomposed raw data into Account, Subscription, Usage, Support, and Churn Label entities to mirror CRM structures.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Customer 360 view unifies all entities at the account level, serving as a clean analytics layer for modeling.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We engineered features based on business logic like contract risk and adoption counts. Business understanding drives model-ready features.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 chose Logistic Regression for its interpretability and suitability for binary outcomes. Steps included encoding, scaling, and evaluation.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Key churn drivers include month-to-month contracts, low tenure, high charges, low service adoption, and lack of technical support.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Insights confirm that long-term contracts, bundling, and support improve retention, aligning with established CRM theories.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Recommendations focus on proactive CRM actions like contract upgrades and better onboarding, shifting strategy from reactive to predictive.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project delivers value through reduced churn, better targeting, data-driven decisions, and a scalable framework.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Limitations include single-industry data, baseline models only, lack of real-time data, and exclusion of external factors.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Future steps involve advanced models, real-time scoring, CRM integration, and cross-industry expansion.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 successfully built a CRM pipeline, Customer 360 view, and ML models to deliver actionable insights, demonstrating the synergy of analytics, CRM, and 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Thank you for your attention. I am now happy to answer any questions you may have about the data or the analysis.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1213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5281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5124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947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97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7459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66293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2873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856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7920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213049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8606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47966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6645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53462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54096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01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9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19" r:id="rId1"/>
    <p:sldLayoutId id="2157483720" r:id="rId2"/>
    <p:sldLayoutId id="2157483721" r:id="rId3"/>
    <p:sldLayoutId id="2157483722" r:id="rId4"/>
    <p:sldLayoutId id="2157483723" r:id="rId5"/>
    <p:sldLayoutId id="2157483724" r:id="rId6"/>
    <p:sldLayoutId id="2157483725" r:id="rId7"/>
    <p:sldLayoutId id="2157483726" r:id="rId8"/>
    <p:sldLayoutId id="2157483727" r:id="rId9"/>
    <p:sldLayoutId id="2157483728" r:id="rId10"/>
    <p:sldLayoutId id="2157483729" r:id="rId11"/>
    <p:sldLayoutId id="2157483730" r:id="rId12"/>
    <p:sldLayoutId id="2157483731" r:id="rId13"/>
    <p:sldLayoutId id="2157483732" r:id="rId14"/>
    <p:sldLayoutId id="2157483733" r:id="rId15"/>
    <p:sldLayoutId id="2157483734" r:id="rId16"/>
    <p:sldLayoutId id="215748373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508000"/>
            <a:ext cx="11176000" cy="5842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2700" cap="flat" cmpd="sng">
            <a:solidFill>
              <a:srgbClr val="CBD5E1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17928"/>
            <a:ext cx="10160000" cy="4826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2700" cap="flat" cmpd="sng">
            <a:solidFill>
              <a:srgbClr val="CBD5E1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748028" y="981964"/>
            <a:ext cx="8695944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F172A">
                <a:alpha val="5000"/>
              </a:srgbClr>
            </a:outerShdw>
          </a:effectLst>
        </p:spPr>
        <p:txBody>
          <a:bodyPr vert="horz" wrap="square" lIns="254000" tIns="254000" rIns="254000" bIns="254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CRM-Based Customer Churn Prediction Using Machine Learning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2400" b="0" i="0" u="none" strike="noStrike" dirty="0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A Customer 360 Analytics Approach</a:t>
            </a:r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MBA Final Project – Business Analytics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Marisha Gavkar • Golden Gate </a:t>
            </a:r>
            <a:br>
              <a:rPr lang="en-US" sz="1400" b="0" i="0" u="none" strike="noStrike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400" b="0" i="0" u="none" strike="noStrike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University • </a:t>
            </a:r>
            <a:r>
              <a:rPr lang="en-US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Machine Learning Predictive Analytics</a:t>
            </a:r>
            <a:r>
              <a:rPr lang="en-US" sz="1400" b="0" i="0" u="none" strike="noStrike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• 12/19/2025</a:t>
            </a:r>
          </a:p>
        </p:txBody>
      </p:sp>
      <p:sp>
        <p:nvSpPr>
          <p:cNvPr id="6" name="AutoShape 6"/>
          <p:cNvSpPr/>
          <p:nvPr/>
        </p:nvSpPr>
        <p:spPr>
          <a:xfrm>
            <a:off x="5842000" y="5052060"/>
            <a:ext cx="508000" cy="50800"/>
          </a:xfrm>
          <a:prstGeom prst="roundRect">
            <a:avLst>
              <a:gd name="adj" fmla="val 0"/>
            </a:avLst>
          </a:prstGeom>
          <a:solidFill>
            <a:srgbClr val="164E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Business Background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Subscription-based businesses depend heavily </a:t>
            </a:r>
            <a:r>
              <a:rPr lang="en-US" sz="2000" b="0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2000" b="1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customer</a:t>
            </a:r>
            <a:r>
              <a:rPr lang="en-US" sz="2000" b="1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retention</a:t>
            </a: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1100" dirty="0"/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Acquiring new customers is</a:t>
            </a:r>
            <a:r>
              <a:rPr lang="en-US" sz="2000" b="1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5-7x more </a:t>
            </a:r>
            <a:r>
              <a:rPr lang="en-US" sz="2000" b="1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expensive</a:t>
            </a:r>
            <a:r>
              <a:rPr lang="en-US" sz="2000" b="0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than</a:t>
            </a: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retention.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High churn leads to: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Companies </a:t>
            </a:r>
            <a:r>
              <a:rPr lang="en-US" sz="2000" b="0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use</a:t>
            </a:r>
            <a:r>
              <a:rPr lang="en-US" sz="2000" b="1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CRM</a:t>
            </a:r>
            <a:r>
              <a:rPr lang="en-US" sz="2000" b="1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  <a:r>
              <a:rPr lang="en-US" sz="2000" b="0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track behavior but </a:t>
            </a:r>
            <a:r>
              <a:rPr lang="en-US" sz="2000" b="0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often</a:t>
            </a:r>
            <a:r>
              <a:rPr lang="en-US" sz="2000" b="1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-US" sz="2000" b="1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too late</a:t>
            </a: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338CA"/>
                </a:solidFill>
                <a:latin typeface="Montserrat"/>
                <a:ea typeface="Montserrat"/>
                <a:cs typeface="Montserrat"/>
                <a:sym typeface="Montserrat"/>
              </a:rPr>
              <a:t>Business Problem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How can organizationspredict customer churnin advance?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How can predictions beintegrated into CRM systemsfor action?</a:t>
            </a:r>
          </a:p>
        </p:txBody>
      </p:sp>
      <p:sp>
        <p:nvSpPr>
          <p:cNvPr id="5" name="AutoShape 5"/>
          <p:cNvSpPr/>
          <p:nvPr/>
        </p:nvSpPr>
        <p:spPr>
          <a:xfrm>
            <a:off x="6223000" y="1524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E63"/>
                </a:solidFill>
                <a:latin typeface="Montserrat"/>
                <a:ea typeface="Montserrat"/>
                <a:cs typeface="Montserrat"/>
                <a:sym typeface="Montserrat"/>
              </a:rPr>
              <a:t>Analytics Challenge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Raw CRM data is fragmented.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Traditional reports detect churnafter it happens.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Need apredictive + interpretablesolution.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Project Objectives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Transform raw customer data into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CRM-style entities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Build a unified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Customer 360 view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Develop a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machine learning churn prediction model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Identify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key drivers of churn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Translate insights into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actionable CRM strategies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Dataset Overview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03200" indent="-2032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Dataset:</a:t>
            </a: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Telco Customer Churn (IBM) with 7,000+ customer records.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Includes: Tenure, Billing, Subscription details, Service usage, Payment info.</a:t>
            </a:r>
          </a:p>
          <a:p>
            <a:pPr marL="203200" indent="-2032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16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Target:</a:t>
            </a: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Churn (Yes/No). Closely resembles a subscription CRM system.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3285" b="33285"/>
          <a:stretch>
            <a:fillRect/>
          </a:stretch>
        </p:blipFill>
        <p:spPr>
          <a:xfrm>
            <a:off x="762000" y="3048000"/>
            <a:ext cx="5207000" cy="2794000"/>
          </a:xfrm>
          <a:prstGeom prst="roundRect">
            <a:avLst>
              <a:gd name="adj" fmla="val 181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5969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Categorical feature distributions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5970" r="5970"/>
          <a:stretch>
            <a:fillRect/>
          </a:stretch>
        </p:blipFill>
        <p:spPr>
          <a:xfrm>
            <a:off x="6223000" y="3048000"/>
            <a:ext cx="5207000" cy="2794000"/>
          </a:xfrm>
          <a:prstGeom prst="roundRect">
            <a:avLst>
              <a:gd name="adj" fmla="val 181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6223000" y="5969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Tenure and MonthlyCharges distributions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Why CRM-Based Modeling?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Traditional Approach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One flat dataset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Direct modeling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 Limited business interpretability</a:t>
            </a:r>
          </a:p>
        </p:txBody>
      </p:sp>
      <p:sp>
        <p:nvSpPr>
          <p:cNvPr id="5" name="AutoShape 5"/>
          <p:cNvSpPr/>
          <p:nvPr/>
        </p:nvSpPr>
        <p:spPr>
          <a:xfrm>
            <a:off x="6223000" y="1524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This Project’s Approach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• CRM-styleentity modeling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• Separation of operational &amp; analytics layers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• Mirrors Dynamics 365 / MS Fabric architecture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• Makes the modelbusiness-ready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CRM Entity Modeling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Account Entity: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Customer tenure, Lifetime value</a:t>
            </a:r>
            <a:endParaRPr lang="en-US" sz="1100"/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Subscription Entity: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Contract type, Monthly charges, Billing preferences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Usage / Feature Adoption Entity: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Enabled services, Feature breadth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Support Entity: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Technical support availability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Churn Label Entity: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Renewal outcome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Customer 360 View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All CRM entities joined at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account level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Created a unified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Customer 360 dataset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Represents analytics layer used in tools like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Microsoft Fabric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Customer Insights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Clean separation between: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This dataset is the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foundation for modeling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Business logic applied to create meaningful features: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Contract risk indicators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Feature adoption counts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Support risk flags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Pricing signals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Key Idea: Business understanding → model-ready features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Modeling Approach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844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000" b="1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Model </a:t>
            </a:r>
            <a:r>
              <a:rPr lang="en-US" sz="2000" b="1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Used:</a:t>
            </a:r>
            <a:r>
              <a:rPr lang="en-US" sz="2000" b="0" i="0" u="none" strike="noStrik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Logistic</a:t>
            </a:r>
            <a:r>
              <a:rPr lang="en-US" sz="20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Regression</a:t>
            </a:r>
            <a:endParaRPr lang="en-US" sz="1100" dirty="0"/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Why Logistic Regression?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Steps: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203B95B9-52C9-670D-1DF3-91ED02204F7F}"/>
              </a:ext>
            </a:extLst>
          </p:cNvPr>
          <p:cNvSpPr/>
          <p:nvPr/>
        </p:nvSpPr>
        <p:spPr>
          <a:xfrm>
            <a:off x="762000" y="3276809"/>
            <a:ext cx="10668000" cy="2737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Evaluation Metrics</a:t>
            </a:r>
            <a:endParaRPr lang="en-US" sz="110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3F499BC0-6BA8-EDC9-1805-463001798DD8}"/>
              </a:ext>
            </a:extLst>
          </p:cNvPr>
          <p:cNvSpPr/>
          <p:nvPr/>
        </p:nvSpPr>
        <p:spPr>
          <a:xfrm>
            <a:off x="762000" y="4192724"/>
            <a:ext cx="10668000" cy="17339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Model performance evaluated using: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Focus: </a:t>
            </a:r>
            <a:r>
              <a:rPr lang="en-US" sz="2200" b="0" i="0" u="none" strike="noStrik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High recall for churn → fewer at-risk customers missed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Key Drivers of Churn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Contract Type: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Month-to-month customers churn more</a:t>
            </a:r>
            <a:endParaRPr lang="en-US" sz="1100"/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Customer Tenure: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New customers are higher risk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Monthly Charges: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Higher charges increase churn probability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Service Adoption: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Fewer services → higher churn</a:t>
            </a:r>
          </a:p>
          <a:p>
            <a:pPr marL="254000" indent="-2540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0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Technical Support:</a:t>
            </a:r>
            <a:r>
              <a:rPr lang="en-US" sz="20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Lack of support increases churn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Business Insights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Long-term contracts reduce churn.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Early customer lifecycle is critical.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Bundled services increase retention.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Support availability improves customer loyalty.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These insights align with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CRM and customer behavior theory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Managerial Recommendations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CRM Actions: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Target month-to-month customers with contract upgrades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Strengthen onboarding for new customers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Promote service bundles to increase adoption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Proactive technical support for high-risk customers</a:t>
            </a:r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Outcome: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Shift from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reactive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predictive</a:t>
            </a: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CRM strategy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Business Value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Reduced churn and higher customer lifetime value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Better targeting of retention campaigns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Data-driven CRM decision-making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Scalable framework for other subscription industries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Dataset from a single industry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Only baseline ML model used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No real-time or behavioral data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External factors not included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Future Enhancements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Advanced models (Random Forest, XGBoost)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Real-time churn scoring via APIs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Integration with CRM dashboards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Expansion to other industries (SaaS, Banking)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Built an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industry-aligned CRM analytics pipeline</a:t>
            </a:r>
            <a:endParaRPr lang="en-US" sz="1100"/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Created a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Customer 360 view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Applied interpretable machine learning</a:t>
            </a:r>
          </a:p>
          <a:p>
            <a:pPr marL="279400" indent="-279400" algn="l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sz="2200" b="0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Delivered</a:t>
            </a:r>
            <a:r>
              <a:rPr lang="en-US" sz="2200" b="1" i="0" u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actionable business insights</a:t>
            </a:r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Demonstrates how Business Analytics + CRM + ML work together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3556000" y="889000"/>
            <a:ext cx="5080000" cy="5080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556000" y="2540000"/>
            <a:ext cx="5080000" cy="177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0397" y="456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338C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Widescreen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Montserrat</vt:lpstr>
      <vt:lpstr>Noto Sans SC</vt:lpstr>
      <vt:lpstr>Poppins</vt:lpstr>
      <vt:lpstr>Trebuchet MS</vt:lpstr>
      <vt:lpstr>Wingdings 3</vt:lpstr>
      <vt:lpstr>Office 主题​​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Marisha Gavkar</dc:creator>
  <cp:lastModifiedBy>Marisha Gavkar</cp:lastModifiedBy>
  <cp:revision>1</cp:revision>
  <dcterms:modified xsi:type="dcterms:W3CDTF">2025-12-19T23:47:30Z</dcterms:modified>
</cp:coreProperties>
</file>